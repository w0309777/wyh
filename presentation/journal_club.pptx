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约45秒】这篇综述的主角不是某一个分子，而是一份同时被宿主、共生菌和病原体需要的铁。今天沿着资源如何分配、谁能争取、微生物怎样反向反馈来理解全文。图为依据综述自行绘制的概念示意，不表示定量流量。全文是综述，所讲实验发现来自引用原始研究。主讲25页，最后4页为原图备查，不计入常规讲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55秒】铁参与氧运输、能量代谢和酶反应，是必需辅因子；游离亚铁又可以参与Fenton反应产生羟自由基。宿主因此需要让铁可利用，又避免游离铁过多。转铁蛋白负责运输、Ferritin储存，Hepcidin–FPN调节输出和分配。这里只建立矛盾，具体机制留到主体。来源：引言、Box 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60秒】此图主要描述非血红素铁。它可能被植酸等组分结合，三价铁需还原为更易被摄取的二价铁；DMT1介导摄取，细胞内再分储存或输出。酸化可提高溶解性，不能把酸化和化学还原完全等同。血红素铁一般利用度较高，但本文明确说其吸收细节尚有未知。由此引出未吸收铁的去向。来源：Box 1、Fig.1、Box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60秒】图中两条分支是区室概念，不按比例绘制。综述引ref.61估计稳态时约85–95%膳食铁未被小肠吸收而进入结肠；它不是适用于所有饮食、铁状态、疾病或剂型的固定比例。微生物真正可用的铁还取决于结合与形态。全身缺铁不等于肠腔资源低，尤其吸收障碍或口服补铁时。图为依据综述自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55秒】左图是传统宿主限铁、病原体适应的框架。右图加入共生菌后，资源可以在群落中共享、被劫取，也可以通过代谢物反馈宿主。菌群失调与多类疾病相关，但定义和测量本身有局限。不能从一个菌属增减直接推出疾病因果。背景到此只建立研究对象，不提前展开所有铁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45秒】这页明确主线而不展开证据细节。第一层是宿主设立规则，第二层是微生物之间争夺资源，第三层是微生物可以反过来改规则。DAP/Reuterin只作伏笔，后面重点讲。主张是双向、背景依赖，而非微生物抑制吸收天然有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60秒】按空间组织防御因子，避免把所有分子混在一个通路。LCN2截获部分铁载体，乳铁蛋白结合铁，钙卫蛋白还涉及锰锌等金属；Nramp1在单核和巨噬细胞的吞噬囊泡层面作用。Hepcidin是系统分配的重要调节者，也有局部来源。综述提醒，很多分泌限铁因子在炎症时上调，非炎症肠腔中的具体作用仍缺研究。自绘依据Fig.1及相关正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60秒】上排说明Enterobactin可被LCN2结合，影响摄铁；下排为沙门氏菌的Salmochelin逃逸。这里用示意图解释选择性，不表示结构或亲和力数据。其他铁载体列名不展开，以免影响主线。术语已校正为Salmochelin。自绘依据Fig.2、refs.38、51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箭头展示的是文中不同案例，不代表同一实验中所有物种共同存在。霍乱弧菌可利用共生E.coli的Enterobactin，沙门氏菌可利用真菌铁载体；Salmonella和Yersinia还可摄取Ferrioxamine。XusB帮助B.thetaiotaomicron捕获外源铁载体，在某些情境下其保护的铁载体又被沙门氏菌重新获得。共生菌因此不是固定的保护方，作用要放到群落网络里判断。依据refs.53–58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70秒】先提问：争夺资源是否只是生化现象？ref.64提供功能案例，Nissle1917通过与沙门氏菌竞争铁降低定植，耐LCN2铁载体系统很关键。本页不虚构柱形图、不填写未核实的样本数或效应量，而用概念图呈现综述明确总结的方向。另一个Microcin研究ref.65可作口头补充，勿当作同一实验。动物和特定菌株结果不能泛化为普遍临床疗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40秒，可快讲】TepC是2024年原始研究的例子，具有蛋白质铁载体和DNase双重功能。表达摄取受体却不产生对应抗毒素的竞争者可受攻击。图示不表示所有其他细菌都会摄取TepC，也不表示所有逃逸者都相同。这是说明资源网络可与毒性耦合的辅助案例，作用是结束竞争层，不抢DAP/Reuterin主案例的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【约65秒】三条路径分别是释放结合铁、化学还原和提高溶解性。对羟基苯乳酸为p-hydroxyphenyllactic acid，不是对羟基苯乙酸；它由L.fermentum相关研究识别。SCFA还有细胞特异的系统铁代谢作用，但此页聚焦肠道可利用性，不把所有SCFA都说成直接还原铁。图为依据Fig.3与refs.74–81自绘，不表示反应速率或定量吸收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85秒，重点】从上一页改变铁本身，转到这一页改变宿主。DAP为1,3-二氨基丙烷，可来自多种微生物；Reuterin在本文指L.reuteri来源的3-羟基丙醛。综述归纳其抑制HIF-2α活性，影响Dmt1和Dcytb相关程序并减少十二指肠吸收；DAP或L.reuteri干预在小鼠模型中缓解铁过载。该箭头为抑制活性的机制示意，不声称直接结合已由本文独立证明。此处是全场转折，应留最多讲述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同样的吸收抑制，在过载时可能减少负担，在缺铁时可能成为限制。综述还引述抗生素降低相关代谢物后缓解特定贫血模型的发现，不应转成对贫血人群使用抗生素的建议。这里没有主张两个模型完全对称，只说明净效应依赖起点。为了避免将动物治疗方向泛化，后面进入证据审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45秒】此页不增加新机制，而是把前面三层结论闭合。宿主控铁影响资源，资源选择群落，群落竞争与代谢反过来影响宿主。图为工作框架，不是所有通路均有相同因果证据。下一章必须检验它而不是直接接受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这页的证据分类由汇报者归纳，不声称综述进行了正式证据分级。随机试验若发现补铁改变炎症，不能仅凭同时发生菌群变化就认定菌群是中介；动物和细胞有利于机制但需要人群验证。第三章不是技术名词列表，而是在问每条发现究竟支持多强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55秒】明确本页是如何审视因果的框架，不把建议的每个对照说成ref.64都已做过。核心问题是铁获取功能是否与结果有依赖关系，以及是否存在其他因素。Nissle还涉及其他竞争机制，所以不能仅看到两菌变化就归因于铁。汇报依据综述而非已核实全部原始方法，讨论时要守住这个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60秒】用DAP/Reuterin贯穿三层：分子活性、实际铁吸收、整体表型。Ferritin增加不等于吸收增加，还可受炎症影响；粪铁也不能直接代表上皮利用。特异干预和救援帮助检验通路依赖。本页是相关研究的证据审视路径，并非声称综述作者做了这些实验，也非声称引用研究的每一步都已核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综述讨论血色病、Hepcidin缺失与菌群时，明确指出粪铁测量不足、饮食未严控和同窝对照不清等问题。强调有些段落涉及不同研究，并非所有研究都有同样缺陷。基线菌群、铁状态与暴露差异可以解释部分异质性，但尚不是验证完成的预测模型。证据审视结束，下一章讨论这对疾病和干预意味着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综述提到缺铁可影响多样性和SCFA相关功能，Roseburia及E.rectale相关指标下降来自特定研究，不能泛化为所有缺铁患者。补铁部分同样存在地区和人群差异，部分试验并未显示明确失调。这里不把铁过载与口服补铁混为同一暴露，只因它们都可能增加某些环境的铁可用性而并列讨论，实际研究仍须分别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70秒】Hepcidin低铁血症对部分细菌感染有保护作用，但缺铁也影响免疫。IBD中的关键不是一律抑制Hepcidin，而是区分来源和位置：相关研究中树突状细胞局部Hepcidin限铁帮助修复；系统异常则可能涉及上皮、免疫和微生态间接变化。DSS是化学结肠炎模型而非人IBD本身。PPI和C.difficile作为相关线索简述，不把多因素联系包装成确定单向因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75秒】上方虚线代表关联和待检验连接，不是所有中介均已证实。Akkermansia与血红素相关机制有特定模型和背景，不能给菌种贴固定善恶标签。ETBF指产肠毒素B.fragilis，基因毒性E.coli可产生Colibactin；高铁反而能抑制Colibactin，说明丰度与毒力不一致。另一条独立的轴是肿瘤细胞铁摄取和局部Hepcidin导致滞留。本文同时讨论两类机制，但不能认为它们自动构成单一因果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约65秒】综述提出微生态精准治疗的潜力，也承认精确编辑菌群仍很困难。定义群落和无菌小鼠可在已知背景加入菌或代谢物检验功能，但不能代替临床试验。应预设分层，评价铁营养获益与感染炎症、安全性，避免用某一个菌的丰度作为唯一终点。工程菌、噬菌体和抑制剂是方向，不能说已经成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尾约60秒】再次回答开场问题：铁并不只进入宿主，也进入具有竞争与反馈能力的生态系统。第一，机体需要铁又限制铁；第二，资源分配依赖宿主和群落；第三，微生物通过代谢物改变宿主吸收，因此补铁差异应放到个体背景理解。强调这篇综述提出框架和机制线索，而非已经给出可普遍使用的微生态疗法。最后留一个研究设计问题供讨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参考】原始参考编号沿用上传综述。正文原创矢量机制图为汇报者重绘，代表概念逻辑，不表示结构、比例、动力学或定量效应。关键机制案例按综述转述，未凭空生成原始实验图、效应量、样本量和统计显著性。四张原图放在备查区，保留出处，用于现场核对细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【备查，不常规讲述】Figure 1来自上传的综述论文。正文已将其关键路径转成分步图解，此页用于问答时检查原始图示范围。图像保留英文标签，出处见页脚。不要将综述图当作定量原始实验数据。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【备查，不常规讲述】Figure 2来自上传的综述论文。正文已将其关键路径转成分步图解，此页用于问答时检查原始图示范围。图像保留英文标签，出处见页脚。不要将综述图当作定量原始实验数据。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【备查，不常规讲述】Figure 3来自上传的综述论文。正文已将其关键路径转成分步图解，此页用于问答时检查原始图示范围。图像保留英文标签，出处见页脚。不要将综述图当作定量原始实验数据。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【备查，不常规讲述】Figure 4来自上传的综述论文。正文已将其关键路径转成分步图解，此页用于问答时检查原始图示范围。图像保留英文标签，出处见页脚。不要将综述图当作定量原始实验数据。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文献汇报 · 四章式 · 图解重构版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一份铁，谁来用？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Iron at the crossroads of host–microbiome interactions in health and disease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Choi &amp; Bessman, Nature Microbiology 10, 1282–1293 (2025).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01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689100"/>
            <a:ext cx="110871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铁的意义，从供给量走向分配与反馈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84700" y="2844800"/>
            <a:ext cx="2984500" cy="1054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84700" y="2844800"/>
            <a:ext cx="50800" cy="10541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5200" y="3116262"/>
            <a:ext cx="2628900" cy="511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肠道可利用铁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3100" y="3073400"/>
            <a:ext cx="27178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3100" y="3073400"/>
            <a:ext cx="50800" cy="8382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46120"/>
            <a:ext cx="23622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5700" y="2184400"/>
            <a:ext cx="29337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75700" y="2184400"/>
            <a:ext cx="50800" cy="838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6200" y="2366327"/>
            <a:ext cx="25781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共生微生物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5700" y="4102100"/>
            <a:ext cx="2933700" cy="838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5700" y="4102100"/>
            <a:ext cx="50800" cy="8382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6200" y="4284027"/>
            <a:ext cx="25781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病原体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429000" y="3200400"/>
            <a:ext cx="1130300" cy="1905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569200" y="2667000"/>
            <a:ext cx="1181100" cy="4699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569200" y="3594100"/>
            <a:ext cx="1181100" cy="88900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785100" y="3403600"/>
            <a:ext cx="965200" cy="327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竞争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9029700" y="3073400"/>
            <a:ext cx="0" cy="1054100"/>
          </a:xfrm>
          <a:prstGeom prst="line">
            <a:avLst/>
          </a:prstGeom>
          <a:ln w="25400">
            <a:solidFill>
              <a:srgbClr val="66798A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6100" y="5168900"/>
            <a:ext cx="111125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Choi &amp; Bessman · Nature Microbiology 10, 1282–1293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核心问题：同一份铁，为什么在不同宿主与菌群背景下，产生不同结局？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01 背景 · 1/5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铁必须“给够”，又必须避免游离铁过量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一个生理矛盾：必需辅因子，同时也是氧化损伤的潜在来源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依据综述引言、Box 1与Fig.1自绘；非定量图。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1841500"/>
            <a:ext cx="34290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6100" y="1841500"/>
            <a:ext cx="50800" cy="1143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1982470"/>
            <a:ext cx="3073400" cy="861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氧运输</a:t>
            </a:r>
          </a:p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血红蛋白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6100" y="3352800"/>
            <a:ext cx="34290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6100" y="3352800"/>
            <a:ext cx="50800" cy="1143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6600" y="3512185"/>
            <a:ext cx="30734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能量代谢与含铁酶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Fe–S等辅因子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0900" y="2501900"/>
            <a:ext cx="2806700" cy="1435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60900" y="2501900"/>
            <a:ext cx="50800" cy="14351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51400" y="2696845"/>
            <a:ext cx="2451100" cy="1045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915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可利用</a:t>
            </a:r>
          </a:p>
          <a:p>
            <a:pPr>
              <a:lnSpc>
                <a:spcPts val="3915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但不过量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2300" y="1943100"/>
            <a:ext cx="3467100" cy="2209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42300" y="1943100"/>
            <a:ext cx="50800" cy="22098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2800" y="2359660"/>
            <a:ext cx="31115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Fe²⁺ + H₂O₂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→ Fe³⁺ + ·OH + OH⁻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Fenton反应 → 氧化损伤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87800" y="2413000"/>
            <a:ext cx="647700" cy="5461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3987800" y="3454400"/>
            <a:ext cx="647700" cy="4445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80300" y="3124200"/>
            <a:ext cx="723900" cy="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7100" y="4965700"/>
            <a:ext cx="106553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转铁蛋白运输  ·  铁蛋白储存  ·  Hepcidin–FPN调节分配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必须控铁 → 但宿主控制的并不是摄入量本身，而是铁的吸收、结合与输出。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01 背景 · 2/5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摄入铁，不等于吸收到铁：形态与环境构成瓶颈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非血红素铁受结合状态、氧化还原与pH影响；血红素铁通常生物利用度更高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依据综述Box 1、Box 2及Fig.1自绘；非血红素铁吸收示意。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03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943100"/>
            <a:ext cx="2857500" cy="1193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943100"/>
            <a:ext cx="50800" cy="11938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900" y="2146300"/>
            <a:ext cx="25019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非血红素铁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受膳食组分结合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943100"/>
            <a:ext cx="3048000" cy="1193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943100"/>
            <a:ext cx="50800" cy="11938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2146300"/>
            <a:ext cx="26924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Fe³⁺ → Fe²⁺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DCYTB等参与还原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7400" y="1943100"/>
            <a:ext cx="3302000" cy="1193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07400" y="1943100"/>
            <a:ext cx="50800" cy="11938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7900" y="2146300"/>
            <a:ext cx="29464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DMT1摄取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进入肠上皮细胞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416300" y="2540000"/>
            <a:ext cx="8890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429500" y="2540000"/>
            <a:ext cx="9271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343400" y="3797300"/>
            <a:ext cx="3048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3797300"/>
            <a:ext cx="50800" cy="9906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3900" y="3898900"/>
            <a:ext cx="26924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酸度与溶解性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改变可利用性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5867400" y="3175000"/>
            <a:ext cx="0" cy="596900"/>
          </a:xfrm>
          <a:prstGeom prst="line">
            <a:avLst/>
          </a:prstGeom>
          <a:ln w="25400">
            <a:solidFill>
              <a:srgbClr val="C89B3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8407400" y="3797300"/>
            <a:ext cx="33020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7400" y="3797300"/>
            <a:ext cx="50800" cy="9906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7900" y="3935729"/>
            <a:ext cx="29464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Ferritin储存 / FPN输出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决定后续去向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020300" y="3162300"/>
            <a:ext cx="0" cy="5842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6100" y="5194300"/>
            <a:ext cx="111125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血红素铁：吸收细节仍未完全阐明，不套用上述全部步骤。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吸收存在瓶颈 → 没有进入宿主的铁，会进入谁的生存环境？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01 背景 · 3/5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肠道连接两个铁池：宿主铁状态与肠腔铁资源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摄入量 ≠ 宿主吸收量 ≠ 微生物可利用量；不同区室必须分别讨论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依据综述p.1284、ref.61自绘；85–95%为所引稳态估计，非固定比例。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04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99000" y="1676400"/>
            <a:ext cx="2794000" cy="749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99000" y="1676400"/>
            <a:ext cx="50800" cy="7493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89500" y="1813877"/>
            <a:ext cx="24384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膳食 / 口服铁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009900" y="2463800"/>
            <a:ext cx="2336800" cy="5715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858000" y="2463800"/>
            <a:ext cx="2273300" cy="5715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58800" y="3111500"/>
            <a:ext cx="4826000" cy="1397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8800" y="3111500"/>
            <a:ext cx="50800" cy="1397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300" y="3342640"/>
            <a:ext cx="4470400" cy="9347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宿主铁池</a:t>
            </a:r>
          </a:p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吸收 → 储存、分配与利用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1800" y="3111500"/>
            <a:ext cx="4927600" cy="1397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81800" y="3111500"/>
            <a:ext cx="50800" cy="1397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72300" y="3361054"/>
            <a:ext cx="4572000" cy="8978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肠腔铁池</a:t>
            </a:r>
          </a:p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菌群获取 → 生长与功能改变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5500" y="4711700"/>
            <a:ext cx="2286000" cy="6216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495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85–95%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4737100"/>
            <a:ext cx="23241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综述引用的稳态估计：膳食铁未被</a:t>
            </a:r>
          </a:p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小肠吸收而进入结肠的比例。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4991100"/>
            <a:ext cx="59055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全身缺铁，不代表肠腔铁必然不足。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共享资源 → 肠道不是固定浓度的铁池，而是受调控、可竞争的生态位。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01 背景 · 4/5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经典“铁之战”解释了防御，却没有覆盖全部参与者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从宿主—病原体的营养免疫，扩展到共生菌参与的生态系统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依据综述引言与Outlook自绘；概念框架。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05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7700" y="1854200"/>
            <a:ext cx="2921000" cy="825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7700" y="1854200"/>
            <a:ext cx="50800" cy="8255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2038985"/>
            <a:ext cx="25654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宿主限制铁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" y="4013200"/>
            <a:ext cx="2921000" cy="825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700" y="4013200"/>
            <a:ext cx="50800" cy="8255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4197985"/>
            <a:ext cx="25654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病原体获取铁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95500" y="2717800"/>
            <a:ext cx="0" cy="1244600"/>
          </a:xfrm>
          <a:prstGeom prst="line">
            <a:avLst/>
          </a:prstGeom>
          <a:ln w="25400">
            <a:solidFill>
              <a:srgbClr val="C36669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52500" y="3175000"/>
            <a:ext cx="24511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经典框架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51400" y="1854200"/>
            <a:ext cx="3060700" cy="825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51400" y="1854200"/>
            <a:ext cx="50800" cy="8255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1900" y="2029777"/>
            <a:ext cx="27051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97900" y="4013200"/>
            <a:ext cx="3111500" cy="825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97900" y="4013200"/>
            <a:ext cx="50800" cy="8255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88400" y="4188777"/>
            <a:ext cx="27559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病原体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99000" y="4013200"/>
            <a:ext cx="3111500" cy="825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99000" y="4013200"/>
            <a:ext cx="50800" cy="8255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89500" y="4188777"/>
            <a:ext cx="27559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共生菌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23000" y="2717800"/>
            <a:ext cx="0" cy="12446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340600" y="2717800"/>
            <a:ext cx="2133600" cy="124460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874000" y="4419600"/>
            <a:ext cx="660400" cy="0"/>
          </a:xfrm>
          <a:prstGeom prst="line">
            <a:avLst/>
          </a:prstGeom>
          <a:ln w="25400">
            <a:solidFill>
              <a:srgbClr val="C89B3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143500" y="3136900"/>
            <a:ext cx="64770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共享、竞争与代谢反馈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5270500"/>
            <a:ext cx="111252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Dysbiosis与感染、IBD及癌症相关，但关联不等于已建立因果。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框架扩展 → 共生菌只是抢走铁，还是也能改变宿主获得铁的能力？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01 背景 · 5/5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本文要推进三次认识：控铁 → 争铁 → 调铁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四章路线：提出问题 → 递进发现 → 审视证据 → 疾病与精准干预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依据综述摘要、Fig.2–3与Outlook归纳。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06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803400"/>
            <a:ext cx="3429000" cy="8426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235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2679700"/>
            <a:ext cx="3479800" cy="1689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000" y="2679700"/>
            <a:ext cx="50800" cy="16891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8500" y="3112135"/>
            <a:ext cx="31242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宿主限制铁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资源并非自由可得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800" y="1803400"/>
            <a:ext cx="3429000" cy="8426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235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8800" y="2679700"/>
            <a:ext cx="3479800" cy="1689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68800" y="2679700"/>
            <a:ext cx="50800" cy="16891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9300" y="3112135"/>
            <a:ext cx="31242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微生物竞争铁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群落成员相互影响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6600" y="1803400"/>
            <a:ext cx="3429000" cy="8426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6235"/>
              </a:lnSpc>
              <a:spcBef>
                <a:spcPts val="0"/>
              </a:spcBef>
              <a:spcAft>
                <a:spcPts val="0"/>
              </a:spcAft>
              <a:defRPr sz="4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679700"/>
            <a:ext cx="3479800" cy="1689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679700"/>
            <a:ext cx="50800" cy="16891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20100" y="3112135"/>
            <a:ext cx="31242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微生物调节吸收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代谢物反馈宿主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3200" y="3530600"/>
            <a:ext cx="3048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874000" y="3530600"/>
            <a:ext cx="3048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6900" y="4876800"/>
            <a:ext cx="11023600" cy="4006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故事转折：DAP / Reuterin–HIF-2α提示，微生物可以改变宿主吸收程序。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6900" y="5334000"/>
            <a:ext cx="110236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但抑制吸收是否有益，还要看宿主的起始铁状态。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进入第一层发现：宿主如何限制铁，微生物又怎样突破限制？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第一层：宿主与微生物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营养免疫按空间布防：限制铁的方式不止一种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不同效应因子作用于不同区室，不能全部理解为降低肠腔游离铁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依据综述Fig.1及refs.29–43自绘；区室示意。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07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841500"/>
            <a:ext cx="11150600" cy="1092200"/>
          </a:xfrm>
          <a:prstGeom prst="rect">
            <a:avLst/>
          </a:prstGeom>
          <a:solidFill>
            <a:srgbClr val="EEF4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3187700"/>
            <a:ext cx="11150600" cy="1054100"/>
          </a:xfrm>
          <a:prstGeom prst="rect">
            <a:avLst/>
          </a:prstGeom>
          <a:solidFill>
            <a:srgbClr val="F3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3400" y="4495800"/>
            <a:ext cx="11150600" cy="977900"/>
          </a:xfrm>
          <a:prstGeom prst="rect">
            <a:avLst/>
          </a:prstGeom>
          <a:solidFill>
            <a:srgbClr val="F8F2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19300"/>
            <a:ext cx="2667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肠腔 / 分泌防线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000" y="1993900"/>
            <a:ext cx="7620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LCN2：截获部分铁载体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Lactoferrin / Calprotectin：限制可利用金属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65500"/>
            <a:ext cx="2667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细胞内防线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83000" y="3327400"/>
            <a:ext cx="7620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Nramp1：改变吞噬囊泡中的铁可利用性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限制部分胞内病原体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99000"/>
            <a:ext cx="2667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系统铁分配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3000" y="4572000"/>
            <a:ext cx="7620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Hepcidin抑制FPN，影响输出和循环铁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感染时参与低铁血症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限铁产生选择压力 → 微生物通过高亲和力获取和逃逸继续生存。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第一层：获取与逃逸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铁载体把低可用铁，转化成可被特异摄取的资源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Siderophore：微生物螯铁分子；LCN2并不能截获所有类型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依据综述Fig.2及refs.38、51自绘；非分子结构图。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08 / 29</a:t>
            </a:r>
          </a:p>
        </p:txBody>
      </p:sp>
      <p:sp>
        <p:nvSpPr>
          <p:cNvPr id="10" name="Oval 9"/>
          <p:cNvSpPr/>
          <p:nvPr/>
        </p:nvSpPr>
        <p:spPr>
          <a:xfrm>
            <a:off x="901700" y="2387600"/>
            <a:ext cx="762000" cy="342900"/>
          </a:xfrm>
          <a:prstGeom prst="ellipse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4100" y="25146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31900" y="25146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09700" y="25146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774700" y="2476500"/>
            <a:ext cx="127000" cy="6350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63700" y="2565400"/>
            <a:ext cx="177800" cy="11430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3400" y="2882900"/>
            <a:ext cx="2730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Enterobactin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32000" y="2552700"/>
            <a:ext cx="18288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025900" y="2222500"/>
            <a:ext cx="685800" cy="685800"/>
          </a:xfrm>
          <a:prstGeom prst="ellipse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4500" y="2463800"/>
            <a:ext cx="203200" cy="203200"/>
          </a:xfrm>
          <a:prstGeom prst="ellipse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4813300" y="2565400"/>
            <a:ext cx="18669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56400" y="2171700"/>
            <a:ext cx="2209800" cy="812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56400" y="2171700"/>
            <a:ext cx="50800" cy="8128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6900" y="2359342"/>
            <a:ext cx="18542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LCN2截获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042400" y="2565400"/>
            <a:ext cx="1473200" cy="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0515600" y="2476500"/>
            <a:ext cx="0" cy="17780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10668000" y="2400300"/>
            <a:ext cx="762000" cy="342900"/>
          </a:xfrm>
          <a:prstGeom prst="ellipse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20400" y="25273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998200" y="25273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176000" y="25273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0541000" y="2489200"/>
            <a:ext cx="127000" cy="6350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1430000" y="2578100"/>
            <a:ext cx="177800" cy="11430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499600" y="3022600"/>
            <a:ext cx="22098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细菌获取受限</a:t>
            </a:r>
          </a:p>
        </p:txBody>
      </p:sp>
      <p:sp>
        <p:nvSpPr>
          <p:cNvPr id="33" name="Oval 32"/>
          <p:cNvSpPr/>
          <p:nvPr/>
        </p:nvSpPr>
        <p:spPr>
          <a:xfrm>
            <a:off x="901700" y="4178300"/>
            <a:ext cx="762000" cy="342900"/>
          </a:xfrm>
          <a:prstGeom prst="ellipse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54100" y="43053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231900" y="43053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409700" y="43053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774700" y="4267200"/>
            <a:ext cx="127000" cy="6350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663700" y="4356100"/>
            <a:ext cx="177800" cy="11430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33400" y="4673600"/>
            <a:ext cx="2730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Salmochelin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032000" y="4343400"/>
            <a:ext cx="1828800" cy="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4025900" y="4013200"/>
            <a:ext cx="685800" cy="685800"/>
          </a:xfrm>
          <a:prstGeom prst="ellipse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254500" y="4254500"/>
            <a:ext cx="203200" cy="203200"/>
          </a:xfrm>
          <a:prstGeom prst="ellipse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813300" y="4356100"/>
            <a:ext cx="1866900" cy="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6756400" y="3962400"/>
            <a:ext cx="2209800" cy="812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756400" y="3962400"/>
            <a:ext cx="50800" cy="8128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946900" y="4150042"/>
            <a:ext cx="18542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逃避LCN2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042400" y="4356100"/>
            <a:ext cx="1473200" cy="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668000" y="4191000"/>
            <a:ext cx="762000" cy="342900"/>
          </a:xfrm>
          <a:prstGeom prst="ellipse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820400" y="43180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0998200" y="43180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76000" y="4318000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541000" y="4279900"/>
            <a:ext cx="127000" cy="6350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1430000" y="4368800"/>
            <a:ext cx="177800" cy="11430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499600" y="4813300"/>
            <a:ext cx="22098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继续获取铁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5295900"/>
            <a:ext cx="111252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其他例子：Yersiniabactin、Vibriobactin等，具有不同获取与识别特性。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竞争框架成立 → 但铁载体的生产者，是否就是唯一使用者？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第二层：群落竞争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生产者不等于使用者：铁载体构成共享与劫取网络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Xenosiderophore utilization / siderophore piracy：摄取其他成员产生的铁载体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依据综述refs.53–58自绘；汇集不同研究案例，并非同一共培养实验。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09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2908300"/>
            <a:ext cx="3098800" cy="1130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2908300"/>
            <a:ext cx="50800" cy="11303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62500" y="3227070"/>
            <a:ext cx="27432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外源铁载体–铁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1803400"/>
            <a:ext cx="3276600" cy="1003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1500" y="1803400"/>
            <a:ext cx="50800" cy="10033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1948180"/>
            <a:ext cx="2921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共生E. coli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提供Enterobactin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56600" y="1803400"/>
            <a:ext cx="3276600" cy="1003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56600" y="1803400"/>
            <a:ext cx="50800" cy="10033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7100" y="1948180"/>
            <a:ext cx="2921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V. cholerae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利用外源Enterobactin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4292600"/>
            <a:ext cx="3276600" cy="1003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" y="4292600"/>
            <a:ext cx="50800" cy="10033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4437380"/>
            <a:ext cx="2921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真菌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提供真菌铁载体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56600" y="4292600"/>
            <a:ext cx="3276600" cy="1003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56600" y="4292600"/>
            <a:ext cx="50800" cy="10033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47100" y="4437380"/>
            <a:ext cx="29210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Salmonella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可利用真菌铁载体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98900" y="2374900"/>
            <a:ext cx="647700" cy="8128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696200" y="2374900"/>
            <a:ext cx="622300" cy="81280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898900" y="3759200"/>
            <a:ext cx="647700" cy="10160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696200" y="3759200"/>
            <a:ext cx="622300" cy="101600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3400" y="5461000"/>
            <a:ext cx="111506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XusB：B. thetaiotaomicron捕获外源铁载体；其保护效应也可能被Salmonella利用。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资源网络改变竞争关系 → 这种变化能否影响实际定植？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第二层：案例①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Nissle 1917：争夺铁，可以改变沙门氏菌定植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原始研究：Deriu et al., Cell Host &amp; Microbe 14, 26–37 (2013)［ref.64］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依据综述ref.64转述并自绘；非原始实验数据图。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10 / 29</a:t>
            </a:r>
          </a:p>
        </p:txBody>
      </p:sp>
      <p:sp>
        <p:nvSpPr>
          <p:cNvPr id="10" name="Oval 9"/>
          <p:cNvSpPr/>
          <p:nvPr/>
        </p:nvSpPr>
        <p:spPr>
          <a:xfrm>
            <a:off x="1752600" y="2387600"/>
            <a:ext cx="1143000" cy="514350"/>
          </a:xfrm>
          <a:prstGeom prst="ellipse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81200" y="257810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247900" y="257810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14600" y="257810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562100" y="2520950"/>
            <a:ext cx="190500" cy="9525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895600" y="2654300"/>
            <a:ext cx="266700" cy="171450"/>
          </a:xfrm>
          <a:prstGeom prst="line">
            <a:avLst/>
          </a:prstGeom>
          <a:ln w="25400">
            <a:solidFill>
              <a:srgbClr val="127D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258300" y="2387600"/>
            <a:ext cx="1143000" cy="514350"/>
          </a:xfrm>
          <a:prstGeom prst="ellipse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86900" y="257810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3600" y="257810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20300" y="2578100"/>
            <a:ext cx="76200" cy="76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67800" y="2520950"/>
            <a:ext cx="190500" cy="9525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01300" y="2654300"/>
            <a:ext cx="266700" cy="17145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2300" y="3187700"/>
            <a:ext cx="4318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E. coli Nissle 1917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6600" y="3187700"/>
            <a:ext cx="33528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S. Typhimurium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5500" y="2146300"/>
            <a:ext cx="2921000" cy="1346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35500" y="2146300"/>
            <a:ext cx="50800" cy="13462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6000" y="2582227"/>
            <a:ext cx="25654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受限制的铁资源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124200" y="2692400"/>
            <a:ext cx="14986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569200" y="2692400"/>
            <a:ext cx="1574800" cy="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6900" y="4127500"/>
            <a:ext cx="5181600" cy="1117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6900" y="4127500"/>
            <a:ext cx="50800" cy="11176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7400" y="4274185"/>
            <a:ext cx="48260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关键能力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耐LCN2的铁载体系统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5400" y="4127500"/>
            <a:ext cx="5334000" cy="1117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5400" y="4127500"/>
            <a:ext cx="50800" cy="11176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65900" y="4274185"/>
            <a:ext cx="49784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功能结果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竞争并减少沙门氏菌定植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03900" y="4686300"/>
            <a:ext cx="5334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从机制到功能：铁获取能力可影响定植；但不能推成“所有益生菌都有效”。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第二层：合作也可被利用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TepC：当获取铁的“通行证”同时携带毒性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辅助案例｜Y. pseudotuberculosis的T6SS效应蛋白兼具铁获取与DNase功能［ref.67］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依据综述ref.67：Song et al., ISME J. 18, wrad028 (2024) 自绘。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11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1981200"/>
            <a:ext cx="3073400" cy="11049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6100" y="1981200"/>
            <a:ext cx="50800" cy="11049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2103120"/>
            <a:ext cx="2717800" cy="861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产生菌</a:t>
            </a:r>
          </a:p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分泌TepC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1981200"/>
            <a:ext cx="3048000" cy="11049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981200"/>
            <a:ext cx="50800" cy="11049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2500" y="2176780"/>
            <a:ext cx="26924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TepC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蛋白质铁载体 + DNase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657600" y="2527300"/>
            <a:ext cx="876300" cy="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597900" y="1676400"/>
            <a:ext cx="3111500" cy="14097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7900" y="1676400"/>
            <a:ext cx="50800" cy="14097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88400" y="2024380"/>
            <a:ext cx="27559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受体阳性 / 无对应抗毒素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摄取后受到毒性攻击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7900" y="3835400"/>
            <a:ext cx="3111500" cy="14097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7900" y="3835400"/>
            <a:ext cx="50800" cy="14097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88400" y="4146550"/>
            <a:ext cx="27559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有对应抗毒素保护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可中和毒性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632700" y="2336800"/>
            <a:ext cx="927100" cy="101600"/>
          </a:xfrm>
          <a:prstGeom prst="line">
            <a:avLst/>
          </a:prstGeom>
          <a:ln w="25400">
            <a:solidFill>
              <a:srgbClr val="C366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32700" y="2794000"/>
            <a:ext cx="927100" cy="16510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96900" y="5397500"/>
            <a:ext cx="110236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“特洛伊木马”解释了：铁资源共享并不总是合作，也可成为竞争工具。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到此，微生物能重新分配铁；下一层更进一步：它们能否改变宿主吸收？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第三层：先改变铁本身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微生物可通过释放、还原和增溶，提高铁可利用性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这些路径作用于不同化学环节，不应都简写为“促进吸收”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依据综述Fig.3及refs.74–81自绘；概念反应路径。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12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019300"/>
            <a:ext cx="635000" cy="603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09700" y="1879600"/>
            <a:ext cx="31496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9700" y="1879600"/>
            <a:ext cx="50800" cy="889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2105342"/>
            <a:ext cx="2794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植酸–铁结合物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10100" y="2324100"/>
            <a:ext cx="8763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562600" y="1879600"/>
            <a:ext cx="61468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62600" y="1879600"/>
            <a:ext cx="50800" cy="889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53100" y="2114550"/>
            <a:ext cx="57912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Phytase → 释放结合铁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3276600"/>
            <a:ext cx="635000" cy="603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09700" y="3136900"/>
            <a:ext cx="31496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09700" y="3136900"/>
            <a:ext cx="50800" cy="8890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3362642"/>
            <a:ext cx="2794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Fe³⁺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610100" y="3581400"/>
            <a:ext cx="876300" cy="0"/>
          </a:xfrm>
          <a:prstGeom prst="line">
            <a:avLst/>
          </a:prstGeom>
          <a:ln w="25400">
            <a:solidFill>
              <a:srgbClr val="C89B3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562600" y="3136900"/>
            <a:ext cx="61468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62600" y="3136900"/>
            <a:ext cx="50800" cy="8890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53100" y="3371850"/>
            <a:ext cx="57912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对羟基苯乳酸 → Fe²⁺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4533900"/>
            <a:ext cx="635000" cy="603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35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09700" y="4394200"/>
            <a:ext cx="31496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09700" y="4394200"/>
            <a:ext cx="50800" cy="889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0200" y="4619942"/>
            <a:ext cx="2794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难溶铁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610100" y="4838700"/>
            <a:ext cx="876300" cy="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5562600" y="4394200"/>
            <a:ext cx="61468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62600" y="4394200"/>
            <a:ext cx="50800" cy="889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3100" y="4629150"/>
            <a:ext cx="5791200" cy="4191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有机酸 / SCFA → 酸化与增溶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化学可利用性之外 → 微生物还能直接影响宿主的吸收程序。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第三层：案例② / 全场转折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DAP / Reuterin：微生物可“关小”宿主吸收程序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Das et al., Cell Metabolism 31, 115–130.e6 (2020)［ref.85］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依据综述Fig.3及ref.85自绘；非原始定量实验图。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13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1917700"/>
            <a:ext cx="3238500" cy="1054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6100" y="1917700"/>
            <a:ext cx="50800" cy="10541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2014220"/>
            <a:ext cx="2882900" cy="861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微生物来源</a:t>
            </a:r>
          </a:p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DAP / Reuterin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49800" y="1917700"/>
            <a:ext cx="3022600" cy="1054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49800" y="1917700"/>
            <a:ext cx="50800" cy="10541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40300" y="2189162"/>
            <a:ext cx="2667000" cy="511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HIF-2α活性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22700" y="2438400"/>
            <a:ext cx="876300" cy="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699000" y="2349500"/>
            <a:ext cx="0" cy="177800"/>
          </a:xfrm>
          <a:prstGeom prst="line">
            <a:avLst/>
          </a:prstGeom>
          <a:ln w="25400">
            <a:solidFill>
              <a:srgbClr val="C36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737600" y="1917700"/>
            <a:ext cx="2971800" cy="10541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37600" y="1917700"/>
            <a:ext cx="50800" cy="10541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8100" y="2051050"/>
            <a:ext cx="26162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Dmt1 / Dcytb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表达程序降低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10500" y="2438400"/>
            <a:ext cx="876300" cy="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308600" y="3937000"/>
            <a:ext cx="990600" cy="1447800"/>
          </a:xfrm>
          <a:prstGeom prst="rect">
            <a:avLst/>
          </a:prstGeom>
          <a:solidFill>
            <a:srgbClr val="E4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546344" y="4762246"/>
            <a:ext cx="495300" cy="434339"/>
          </a:xfrm>
          <a:prstGeom prst="ellipse">
            <a:avLst/>
          </a:prstGeom>
          <a:solidFill>
            <a:srgbClr val="BCC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94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075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57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039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520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002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89700" y="3937000"/>
            <a:ext cx="990600" cy="1447800"/>
          </a:xfrm>
          <a:prstGeom prst="rect">
            <a:avLst/>
          </a:prstGeom>
          <a:solidFill>
            <a:srgbClr val="E4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727444" y="4762246"/>
            <a:ext cx="495300" cy="434339"/>
          </a:xfrm>
          <a:prstGeom prst="ellipse">
            <a:avLst/>
          </a:prstGeom>
          <a:solidFill>
            <a:srgbClr val="BCC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405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886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368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850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31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2813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70800" y="3937000"/>
            <a:ext cx="990600" cy="1447800"/>
          </a:xfrm>
          <a:prstGeom prst="rect">
            <a:avLst/>
          </a:prstGeom>
          <a:solidFill>
            <a:srgbClr val="E4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908544" y="4762246"/>
            <a:ext cx="495300" cy="434339"/>
          </a:xfrm>
          <a:prstGeom prst="ellipse">
            <a:avLst/>
          </a:prstGeom>
          <a:solidFill>
            <a:srgbClr val="BCC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216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697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179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661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3142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624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851900" y="3937000"/>
            <a:ext cx="990600" cy="1447800"/>
          </a:xfrm>
          <a:prstGeom prst="rect">
            <a:avLst/>
          </a:prstGeom>
          <a:solidFill>
            <a:srgbClr val="E4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089644" y="4762246"/>
            <a:ext cx="495300" cy="434339"/>
          </a:xfrm>
          <a:prstGeom prst="ellipse">
            <a:avLst/>
          </a:prstGeom>
          <a:solidFill>
            <a:srgbClr val="BCC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027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508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1990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472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4953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435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033000" y="3937000"/>
            <a:ext cx="990600" cy="1447800"/>
          </a:xfrm>
          <a:prstGeom prst="rect">
            <a:avLst/>
          </a:prstGeom>
          <a:solidFill>
            <a:srgbClr val="E4ED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270744" y="4762246"/>
            <a:ext cx="495300" cy="434339"/>
          </a:xfrm>
          <a:prstGeom prst="ellipse">
            <a:avLst/>
          </a:prstGeom>
          <a:solidFill>
            <a:srgbClr val="BCC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0838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2319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3801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528300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676466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824633" y="3822700"/>
            <a:ext cx="76200" cy="203200"/>
          </a:xfrm>
          <a:prstGeom prst="rect">
            <a:avLst/>
          </a:prstGeom>
          <a:solidFill>
            <a:srgbClr val="C7D9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10210800" y="2997200"/>
            <a:ext cx="0" cy="7239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46100" y="3898900"/>
            <a:ext cx="4318000" cy="511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十二指肠上皮铁吸收降低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6100" y="4584700"/>
            <a:ext cx="4279900" cy="8509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46100" y="4584700"/>
            <a:ext cx="50800" cy="8509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6600" y="4653280"/>
            <a:ext cx="3924300" cy="7137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小鼠中：DAP或L. reuteri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可缓解特定铁过载表型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13200" y="1993900"/>
            <a:ext cx="685800" cy="327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175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抑制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认识升级：微生物不只争夺已有铁，还能改变宿主获取铁的能力。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背景决定净效应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同样降低吸收，为什么可能产生相反意义？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不能把“微生物抑制铁吸收”固定归类为有益或有害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依据综述ref.85及相关正文自绘；特定小鼠模型结果。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14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6300" y="1651000"/>
            <a:ext cx="5346700" cy="787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6300" y="1651000"/>
            <a:ext cx="50800" cy="7874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6800" y="1789112"/>
            <a:ext cx="4991100" cy="511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共同作用：铁吸收降低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162300" y="2476500"/>
            <a:ext cx="1651000" cy="6985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391400" y="2476500"/>
            <a:ext cx="1676400" cy="698500"/>
          </a:xfrm>
          <a:prstGeom prst="line">
            <a:avLst/>
          </a:prstGeom>
          <a:ln w="25400">
            <a:solidFill>
              <a:srgbClr val="C89B3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46100" y="3251200"/>
            <a:ext cx="5257800" cy="1841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6100" y="3251200"/>
            <a:ext cx="50800" cy="18415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600" y="3511232"/>
            <a:ext cx="4902200" cy="132143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起点：铁过载</a:t>
            </a:r>
          </a:p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减少新增铁负荷</a:t>
            </a:r>
          </a:p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特定模型中改善铁过载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8100" y="3251200"/>
            <a:ext cx="5321300" cy="1841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8100" y="3251200"/>
            <a:ext cx="50800" cy="18415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8600" y="3594100"/>
            <a:ext cx="4965700" cy="1155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起点：铁限制 / 贫血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可能限制可获得铁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部分模型中减少代谢物可缓解贫血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" y="5448300"/>
            <a:ext cx="110490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抗生素相关发现来自特定小鼠模型，不构成普通贫血的用药建议。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同一菌、同一代谢物的作用，需要在宿主铁状态和群落背景下解释。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02 核心发现 · 收束三层认识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核心命题：分配、竞争与反馈共同塑造铁稳态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原创整合图｜基于综述的概念框架，不代表所有箭头已获同等因果验证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汇报者依据综述整合自绘；各路径证据强度不同。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15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7700" y="1727200"/>
            <a:ext cx="3276600" cy="939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57700" y="1727200"/>
            <a:ext cx="50800" cy="9398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8200" y="1803400"/>
            <a:ext cx="29210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宿主调控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吸收、输出与储存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900" y="3975100"/>
            <a:ext cx="35052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6900" y="3975100"/>
            <a:ext cx="50800" cy="11430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" y="4152900"/>
            <a:ext cx="31496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群落竞争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共享、逃逸、劫取与定植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02600" y="3975100"/>
            <a:ext cx="36068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2600" y="3975100"/>
            <a:ext cx="50800" cy="1143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100" y="4152900"/>
            <a:ext cx="3251200" cy="787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代谢反馈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改变可利用性与吸收程序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3238500" y="2730500"/>
            <a:ext cx="1473200" cy="1193800"/>
          </a:xfrm>
          <a:prstGeom prst="line">
            <a:avLst/>
          </a:prstGeom>
          <a:ln w="25400">
            <a:solidFill>
              <a:srgbClr val="172D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165600" y="4533900"/>
            <a:ext cx="3873500" cy="0"/>
          </a:xfrm>
          <a:prstGeom prst="line">
            <a:avLst/>
          </a:prstGeom>
          <a:ln w="25400">
            <a:solidFill>
              <a:srgbClr val="C89B3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 flipV="1">
            <a:off x="7543800" y="2705100"/>
            <a:ext cx="1993900" cy="121920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58800" y="3302000"/>
            <a:ext cx="35687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铁资源塑造群落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40700" y="3302000"/>
            <a:ext cx="35306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群落功能反馈宿主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44700" y="5422900"/>
            <a:ext cx="95885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不只看“谁变多”，更要问“哪种功能改变了铁的去向”。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下一章：这个框架中，哪些已有功能证据，哪些仍停留在关联？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03 证据审视 · 分清问题与证据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机制证据和人群证据各自回答不同问题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不将体外、动物、人群简单排成统一等级；尤其区分观察与随机干预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汇报者对综述所引证据的分类；不是正式证据分级。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16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739900"/>
            <a:ext cx="11150600" cy="4953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3100" y="1866900"/>
            <a:ext cx="26670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Noto Sans CJK SC"/>
              </a:defRPr>
            </a:pPr>
            <a:r>
              <a:rPr>
                <a:ea typeface="Noto Sans CJK SC"/>
              </a:rPr>
              <a:t>证据路径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5200" y="1866900"/>
            <a:ext cx="4279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Noto Sans CJK SC"/>
              </a:defRPr>
            </a:pPr>
            <a:r>
              <a:rPr>
                <a:ea typeface="Noto Sans CJK SC"/>
              </a:rPr>
              <a:t>能回答什么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866900"/>
            <a:ext cx="3517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FFFFFF"/>
                </a:solidFill>
                <a:latin typeface="Noto Sans CJK SC"/>
              </a:defRPr>
            </a:pPr>
            <a:r>
              <a:rPr>
                <a:ea typeface="Noto Sans CJK SC"/>
              </a:rPr>
              <a:t>不能直接回答什么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3400" y="2247900"/>
            <a:ext cx="11150600" cy="787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100" y="2413000"/>
            <a:ext cx="26670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体外 / 共培养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5200" y="2413000"/>
            <a:ext cx="4279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活性、竞争与候选靶点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13000"/>
            <a:ext cx="3517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不能代表完整宿主环境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060700"/>
            <a:ext cx="11150600" cy="78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3100" y="3225800"/>
            <a:ext cx="26670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小鼠 / 定义菌群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5200" y="3225800"/>
            <a:ext cx="4279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控制背景检验菌或通路功能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225800"/>
            <a:ext cx="3517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模型结果不等于人群疗效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873500"/>
            <a:ext cx="11150600" cy="787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3100" y="4038600"/>
            <a:ext cx="26670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人群观察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05200" y="4038600"/>
            <a:ext cx="4279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现实暴露与结局关联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4038600"/>
            <a:ext cx="3517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混杂、反向因果与区室偏差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4686300"/>
            <a:ext cx="11150600" cy="78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100" y="4851400"/>
            <a:ext cx="26670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随机干预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5200" y="4851400"/>
            <a:ext cx="4279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干预对预设结局的总效应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851400"/>
            <a:ext cx="35179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不能自动证明菌群中介机制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用两条主案例回看：竞争如何证明？反馈又如何证明？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03 证据审视 · 回扣案例①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从“共存变化”到“铁竞争”：需要功能依赖证据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Nissle案例用于展示因果审视逻辑；下列对照框架不等于逐项复述原文全部实验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结合综述ref.64归纳的因果审视框架；不逐项宣称原研究均已实施。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17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700" y="1765300"/>
            <a:ext cx="11163300" cy="7239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0700" y="1765300"/>
            <a:ext cx="50800" cy="7239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200" y="1899285"/>
            <a:ext cx="10807700" cy="455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19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待检验命题：Nissle通过铁获取能力降低沙门氏菌定植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3400" y="3009900"/>
            <a:ext cx="3530600" cy="1651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3400" y="3009900"/>
            <a:ext cx="50800" cy="1651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3900" y="3147060"/>
            <a:ext cx="31750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竞争能力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比较菌株的铁获取功能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并控制铁环境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3009900"/>
            <a:ext cx="3530600" cy="1651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3009900"/>
            <a:ext cx="50800" cy="16510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900" y="3147060"/>
            <a:ext cx="31750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定植结局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测量病原体定植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而非仅观察培养生长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53400" y="3009900"/>
            <a:ext cx="3530600" cy="1651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3400" y="3009900"/>
            <a:ext cx="50800" cy="16510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43900" y="3147060"/>
            <a:ext cx="3175000" cy="1376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替代解释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考虑抗菌分子、炎症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和宿主背景变化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900" y="4953000"/>
            <a:ext cx="11023600" cy="750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综述支持：特定菌株铁获取系统对竞争重要。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尚不能推广：任意益生菌、任意宿主背景均有同样效果。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功能证据回答“能否影响定植”；临床效用仍需独立检验。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03 证据审视 · 回扣案例②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代谢反馈需要连起三层：分子、通量与整体表型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HIF-2α相关表达变化，不能单独替代真实铁吸收变化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结合综述ref.85归纳的验证框架；不是综述作者的实验流程。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18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0700" y="1981200"/>
            <a:ext cx="3454400" cy="1841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0700" y="1981200"/>
            <a:ext cx="50800" cy="18415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1200" y="2176780"/>
            <a:ext cx="3098800" cy="1450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分子层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HIF-2α活性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Dmt1 / Dcytb程序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68800" y="1981200"/>
            <a:ext cx="3454400" cy="1841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800" y="1981200"/>
            <a:ext cx="50800" cy="18415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9300" y="2176780"/>
            <a:ext cx="3098800" cy="1450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功能层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89B39"/>
                </a:solidFill>
                <a:latin typeface="Noto Sans CJK SC"/>
              </a:defRPr>
            </a:pP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铁摄取、储存与输出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区分表达和实际通量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6900" y="1981200"/>
            <a:ext cx="3454400" cy="1841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16900" y="1981200"/>
            <a:ext cx="50800" cy="18415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7400" y="2176780"/>
            <a:ext cx="3098800" cy="1450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整体层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循环 / 组织铁状态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铁过载或贫血表型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00500" y="2908300"/>
            <a:ext cx="3175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48600" y="2908300"/>
            <a:ext cx="3048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33400" y="4381500"/>
            <a:ext cx="11150600" cy="9906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3400" y="4381500"/>
            <a:ext cx="50800" cy="9906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900" y="4658042"/>
            <a:ext cx="10795000" cy="437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特异干预、阻断或救援：检验表型是否依赖候选菌、代谢物和宿主通路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图为理想验证框架；任何单一指标，都不足以建立完整因果链。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03 证据审视 · 综述明确指出的边界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解释“铁—菌群—疾病”，至少要排查四个缺口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因果解释取决于研究设计，不取决于机制图看起来多完整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依据综述pp.1287–1289与Outlook；局限对应不同研究情境。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19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765300"/>
            <a:ext cx="5448300" cy="1676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765300"/>
            <a:ext cx="50800" cy="16764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300" y="1930400"/>
            <a:ext cx="5041900" cy="4006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测量区室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300" y="2413000"/>
            <a:ext cx="501650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粪便铁、上皮铁、循环铁不等同；部分研究缺少关键铁</a:t>
            </a:r>
          </a:p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测量。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5700" y="1765300"/>
            <a:ext cx="5448300" cy="1676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5700" y="1765300"/>
            <a:ext cx="50800" cy="16764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1600" y="1930400"/>
            <a:ext cx="5041900" cy="4006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饮食与基线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1600" y="2413000"/>
            <a:ext cx="50165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饮食未严格控制；基础铁状态、病原暴露与菌群不同。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3400" y="3670300"/>
            <a:ext cx="5448300" cy="1676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3400" y="3670300"/>
            <a:ext cx="50800" cy="16764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300" y="3835400"/>
            <a:ext cx="5041900" cy="4006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动物对照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300" y="4318000"/>
            <a:ext cx="50165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同窝、笼位和遗传背景可能混入菌群差异。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5700" y="3670300"/>
            <a:ext cx="5448300" cy="1676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5700" y="3670300"/>
            <a:ext cx="50800" cy="16764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1600" y="3835400"/>
            <a:ext cx="5041900" cy="4006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临床外推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1600" y="4318000"/>
            <a:ext cx="5016500" cy="345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动物改善不等于患者获益；相关变化不等于菌群介导。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边界不是否定机制，而是决定下一步应验证什么、能转化到哪里。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04 疾病含义 · 先看缺铁与补铁的两难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铁过少与供给增加，都可能改变菌群功能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下列为部分研究观察到的方向，不是所有人群的固定反应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依据综述refs.17、89–94、123；方向依赖研究背景。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20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1790700"/>
            <a:ext cx="5270500" cy="749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6100" y="1790700"/>
            <a:ext cx="50800" cy="7493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1909762"/>
            <a:ext cx="4914900" cy="511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严重缺铁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8100" y="1790700"/>
            <a:ext cx="5321300" cy="749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8100" y="1790700"/>
            <a:ext cx="50800" cy="7493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8600" y="1909762"/>
            <a:ext cx="4965700" cy="5111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6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补铁 / 铁过载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6100" y="2921000"/>
            <a:ext cx="5270500" cy="20447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6100" y="2921000"/>
            <a:ext cx="50800" cy="20447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600" y="3181350"/>
            <a:ext cx="4914900" cy="152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部分研究：多样性、丰富度降低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产SCFA相关类群与功能下降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可能影响黏膜稳态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8100" y="2921000"/>
            <a:ext cx="5321300" cy="20447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8100" y="2921000"/>
            <a:ext cx="50800" cy="20447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78600" y="3181350"/>
            <a:ext cx="4965700" cy="1524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部分研究：Proteobacteria增加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Bifidobacterium减少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炎症相关结局并不一致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5359400"/>
            <a:ext cx="11061700" cy="3638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465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不一致的人群结果 → 需要区分基线铁状态、群落功能与病原体暴露。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关键不是简单减少或增加铁，而是同时评价营养获益与生态结局。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04 疾病含义 · 感染与IBD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限铁既可参与防御，也可能与营养和炎症代价并存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特别区分：肝脏来源的系统Hepcidin，与局部细胞来源的Hepcidin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依据综述Hepcidin、infection与IBD相关正文及ref.44归纳。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21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790700"/>
            <a:ext cx="52959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790700"/>
            <a:ext cx="50800" cy="889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900" y="1998027"/>
            <a:ext cx="49403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系统分配 / 感染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5400" y="1790700"/>
            <a:ext cx="5334000" cy="889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75400" y="1790700"/>
            <a:ext cx="50800" cy="889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900" y="1998027"/>
            <a:ext cx="4978400" cy="4743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局部分配 / IBD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400" y="3060700"/>
            <a:ext cx="5295900" cy="1968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3400" y="3060700"/>
            <a:ext cx="50800" cy="19685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900" y="3319779"/>
            <a:ext cx="4940300" cy="1450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Hepcidin → 循环可利用铁降低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限制部分病原体扩增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但严重缺铁也会损害免疫功能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5400" y="3060700"/>
            <a:ext cx="5334000" cy="19685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5400" y="3060700"/>
            <a:ext cx="50800" cy="19685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900" y="3319779"/>
            <a:ext cx="4978400" cy="14503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局部Hepcidin → 限制浸润菌用铁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相关小鼠研究中支持黏膜修复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需与系统铁限制和贫血区分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" y="5422900"/>
            <a:ext cx="110617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PPI、C. difficile与炎症的联系涉及多因素，不能全部归结为一条铁介导链。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同一分子不代表同一效应：来源、位置、病原体与时间都重要。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04 疾病含义 · 结直肠癌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结直肠癌：饮食、菌群和肿瘤细胞铁需求交织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不能把“高铁 → 某菌增多 → 致癌”当作已证实的统一直线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依据综述Cancer部分、refs.110–120自绘；虚线为待检验关联。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22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6100" y="1790700"/>
            <a:ext cx="3213100" cy="1130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6100" y="1790700"/>
            <a:ext cx="50800" cy="11303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1943735"/>
            <a:ext cx="2857500" cy="8242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膳食血红素铁</a:t>
            </a:r>
          </a:p>
          <a:p>
            <a:pPr>
              <a:lnSpc>
                <a:spcPts val="3045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红肉等暴露背景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3100" y="1790700"/>
            <a:ext cx="3225800" cy="1130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3100" y="1790700"/>
            <a:ext cx="50800" cy="11303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600" y="1980564"/>
            <a:ext cx="2870200" cy="750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屏障与微生态变化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Akkermansia等线索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58200" y="1790700"/>
            <a:ext cx="3251200" cy="11303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58200" y="1790700"/>
            <a:ext cx="50800" cy="11303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8700" y="1980564"/>
            <a:ext cx="2895600" cy="7505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肿瘤相关过程</a:t>
            </a:r>
          </a:p>
          <a:p>
            <a:pPr>
              <a:lnSpc>
                <a:spcPts val="2755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需分开验证中介链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97300" y="2349500"/>
            <a:ext cx="635000" cy="0"/>
          </a:xfrm>
          <a:prstGeom prst="line">
            <a:avLst/>
          </a:prstGeom>
          <a:ln w="25400">
            <a:solidFill>
              <a:srgbClr val="C89B39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759700" y="2349500"/>
            <a:ext cx="647700" cy="0"/>
          </a:xfrm>
          <a:prstGeom prst="line">
            <a:avLst/>
          </a:prstGeom>
          <a:ln w="25400">
            <a:solidFill>
              <a:srgbClr val="C36669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46100" y="3505200"/>
            <a:ext cx="5359400" cy="1651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6100" y="3505200"/>
            <a:ext cx="50800" cy="1651000"/>
          </a:xfrm>
          <a:prstGeom prst="rect">
            <a:avLst/>
          </a:prstGeom>
          <a:solidFill>
            <a:srgbClr val="C36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600" y="3752850"/>
            <a:ext cx="5003800" cy="1155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菌群毒性轴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ETBF：B. fragilis toxin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C36669"/>
                </a:solidFill>
                <a:latin typeface="Noto Sans CJK SC"/>
              </a:defRPr>
            </a:pPr>
            <a:r>
              <a:rPr>
                <a:ea typeface="Noto Sans CJK SC"/>
              </a:rPr>
              <a:t>基因毒性E. coli：Colibactin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0000" y="3505200"/>
            <a:ext cx="5359400" cy="1651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0000" y="3505200"/>
            <a:ext cx="50800" cy="1651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40500" y="3752850"/>
            <a:ext cx="5003800" cy="1155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宿主肿瘤铁代谢轴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DMT1摄铁增加</a:t>
            </a:r>
          </a:p>
          <a:p>
            <a:pPr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局部Hepcidin促进铁滞留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800" y="5461000"/>
            <a:ext cx="110998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反例：高铁可抑制Colibactin生成；菌的丰度不等于毒素产量。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提示要研究功能与通路，而不仅是膳食铁摄入量或某一菌属的丰度。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04 展望 · 从补铁走向精准调铁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精准干预先要回答：谁、在什么背景下、改变了什么？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以下为研究方向，不是现成的临床微生态处方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依据综述Outlook归纳；属于研究方向，非现成临床方案。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23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" y="1930400"/>
            <a:ext cx="3530600" cy="2794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3400" y="1930400"/>
            <a:ext cx="50800" cy="2794000"/>
          </a:xfrm>
          <a:prstGeom prst="rect">
            <a:avLst/>
          </a:prstGeom>
          <a:solidFill>
            <a:srgbClr val="17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900" y="2473325"/>
            <a:ext cx="3175000" cy="1708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干预前分层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宿主铁状态与炎症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饮食、药物与暴露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菌群铁获取和代谢功能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930400"/>
            <a:ext cx="3530600" cy="2794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930400"/>
            <a:ext cx="50800" cy="27940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3900" y="2473325"/>
            <a:ext cx="3175000" cy="1708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选择可检验策略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合适的补铁方案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特定菌或代谢物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噬菌体 / 抑制剂等候选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3400" y="1930400"/>
            <a:ext cx="3530600" cy="2794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53400" y="1930400"/>
            <a:ext cx="50800" cy="2794000"/>
          </a:xfrm>
          <a:prstGeom prst="rect">
            <a:avLst/>
          </a:prstGeom>
          <a:solidFill>
            <a:srgbClr val="C89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3900" y="2473325"/>
            <a:ext cx="3175000" cy="17081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同时评价结局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营养和贫血是否改善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微生物功能是否改变</a:t>
            </a:r>
          </a:p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C89B39"/>
                </a:solidFill>
                <a:latin typeface="Noto Sans CJK SC"/>
              </a:defRPr>
            </a:pPr>
            <a:r>
              <a:rPr>
                <a:ea typeface="Noto Sans CJK SC"/>
              </a:rPr>
              <a:t>感染、炎症与安全性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89400" y="3327400"/>
            <a:ext cx="2159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899400" y="3327400"/>
            <a:ext cx="215900" cy="0"/>
          </a:xfrm>
          <a:prstGeom prst="line">
            <a:avLst/>
          </a:prstGeom>
          <a:ln w="25400">
            <a:solidFill>
              <a:srgbClr val="127D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1500" y="5283200"/>
            <a:ext cx="110363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定义群落与无菌模型：验证因果 → 前瞻性人群研究：检验分层策略。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精准调铁的目标，是在特定背景下优化分配与功能，而非追求越多或越少。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总结 · 回到最初的问题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一份铁，谁来用？答案取决于分配、竞争与反馈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从摄入量视角，转向宿主—微生物共同调控视角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依据Choi &amp; Bessman, Nature Microbiology 10, 1282–1293 (2025) 归纳。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24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765300"/>
            <a:ext cx="787400" cy="6769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3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2900" y="1765300"/>
            <a:ext cx="99568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铁不是越多越好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2900" y="2260600"/>
            <a:ext cx="99568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宿主需要可利用铁，同时控制游离铁的代价。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2997200"/>
            <a:ext cx="787400" cy="6769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3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2900" y="2997200"/>
            <a:ext cx="99568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肠道铁资源由多方共同改造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2900" y="3492500"/>
            <a:ext cx="99568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宿主闸门与菌间竞争决定谁有机会获得铁。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4229100"/>
            <a:ext cx="787400" cy="6769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93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2900" y="4229100"/>
            <a:ext cx="9956800" cy="492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3479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微生物还会改变宿主的吸收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2900" y="4724400"/>
            <a:ext cx="9956800" cy="382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61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干预效果依赖背景，需要因果验证与分层研究。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讨论：补铁试验除了看血红蛋白，还应增加什么指标来检验微生态的作用？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参考文献与图示说明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主文献、核心案例与证据边界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正文25页；附后4页为论文原图备查，不计入主讲。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Choi &amp; Bessman, Nature Microbiology 10, 1282–1293 (2025).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25 / 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100" y="1714500"/>
            <a:ext cx="20701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主文献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7000" y="1714500"/>
            <a:ext cx="896620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Choi G, Bessman NJ. Nature Microbiology 10, 1282–1293 (2025).</a:t>
            </a:r>
          </a:p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DOI: 10.1038/s41564-025-02001-y.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2540000"/>
            <a:ext cx="20701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[64] 铁竞争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67000" y="2540000"/>
            <a:ext cx="896620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Deriu E et al. Probiotic bacteria reduce Salmonella typhimurium intestinal colonization by competing for iron. Cell</a:t>
            </a:r>
          </a:p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Host Microbe 14, 26–37 (2013).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3365500"/>
            <a:ext cx="20701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[85] 代谢反馈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7000" y="3365500"/>
            <a:ext cx="896620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Das NK et al. Microbial metabolite signaling is required for systemic iron homeostasis. Cell Metabolism 31,</a:t>
            </a:r>
          </a:p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115–130.e6 (2020).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6100" y="4191000"/>
            <a:ext cx="20701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[17 / 89 / 90] 人群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7000" y="4191000"/>
            <a:ext cx="8966200" cy="480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Zimmermann et al., Am J Clin Nutr 92, 1406–1415 (2010); Dostal et al., Br J Nutr 112, 547–556 (2014); Baldi et al., Nat</a:t>
            </a:r>
          </a:p>
          <a:p>
            <a:pPr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263C51"/>
                </a:solidFill>
                <a:latin typeface="Noto Sans CJK SC"/>
              </a:defRPr>
            </a:pPr>
            <a:r>
              <a:rPr>
                <a:ea typeface="Noto Sans CJK SC"/>
              </a:rPr>
              <a:t>Commun 15, 8640 (2024).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100" y="5283200"/>
            <a:ext cx="11112500" cy="290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884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正文机制图为依据综述自绘的概念图，非定量数据图；关键结果按综述转述。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原始研究的剂量、样本量与统计结果未逐篇核实，不补写或制造数据。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补充材料 · 原图核对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原图备查｜宿主铁调控与营养免疫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上传论文 Figure 1｜原图节选；与正文自绘概念图对照阅读。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原图来源：Choi &amp; Bessman, Nature Microbiology (2025), Fig. 1. DOI: 10.1038/s41564-025-02001-y.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26 / 29</a:t>
            </a:r>
          </a:p>
        </p:txBody>
      </p:sp>
      <p:pic>
        <p:nvPicPr>
          <p:cNvPr id="10" name="Picture 9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5041" y="1562100"/>
            <a:ext cx="3900016" cy="4114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本页用于问答与机制细节核对；原图汇总跨研究结论，不是单项原创实验结果。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补充材料 · 原图核对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原图备查｜微生物铁获取与竞争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上传论文 Figure 2｜原图节选；与正文自绘概念图对照阅读。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原图来源：Choi &amp; Bessman, Nature Microbiology (2025), Fig. 2. DOI: 10.1038/s41564-025-02001-y.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27 / 29</a:t>
            </a:r>
          </a:p>
        </p:txBody>
      </p:sp>
      <p:pic>
        <p:nvPicPr>
          <p:cNvPr id="10" name="Picture 9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104" y="1562100"/>
            <a:ext cx="8263890" cy="4114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本页用于问答与机制细节核对；原图汇总跨研究结论，不是单项原创实验结果。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补充材料 · 原图核对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原图备查｜微生物代谢物与宿主吸收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上传论文 Figure 3｜原图节选；与正文自绘概念图对照阅读。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原图来源：Choi &amp; Bessman, Nature Microbiology (2025), Fig. 3. DOI: 10.1038/s41564-025-02001-y.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28 / 29</a:t>
            </a:r>
          </a:p>
        </p:txBody>
      </p:sp>
      <p:pic>
        <p:nvPicPr>
          <p:cNvPr id="10" name="Picture 9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5930" y="1562100"/>
            <a:ext cx="8398239" cy="4114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本页用于问答与机制细节核对；原图汇总跨研究结论，不是单项原创实验结果。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27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2600" y="279400"/>
            <a:ext cx="11176000" cy="25336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595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补充材料 · 原图核对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0" y="609600"/>
            <a:ext cx="11303000" cy="5664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406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172D45"/>
                </a:solidFill>
                <a:latin typeface="Noto Sans CJK SC"/>
              </a:defRPr>
            </a:pPr>
            <a:r>
              <a:rPr>
                <a:ea typeface="Noto Sans CJK SC"/>
              </a:rPr>
              <a:t>原图备查｜铁失调、菌群与疾病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" y="1155700"/>
            <a:ext cx="11176000" cy="2717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739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上传论文 Figure 4｜原图节选；与正文自绘概念图对照阅读。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82600" y="6426200"/>
            <a:ext cx="11226800" cy="12700"/>
          </a:xfrm>
          <a:prstGeom prst="rect">
            <a:avLst/>
          </a:prstGeom>
          <a:solidFill>
            <a:srgbClr val="DBE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6553200"/>
            <a:ext cx="10414000" cy="2165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305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6798A"/>
                </a:solidFill>
                <a:latin typeface="Noto Sans CJK SC"/>
              </a:defRPr>
            </a:pPr>
            <a:r>
              <a:rPr>
                <a:ea typeface="Noto Sans CJK SC"/>
              </a:rPr>
              <a:t>原图来源：Choi &amp; Bessman, Nature Microbiology (2025), Fig. 4. DOI: 10.1038/s41564-025-02001-y.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36300" y="6540500"/>
            <a:ext cx="762000" cy="234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145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29 / 29</a:t>
            </a:r>
          </a:p>
        </p:txBody>
      </p:sp>
      <p:pic>
        <p:nvPicPr>
          <p:cNvPr id="10" name="Picture 9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716" y="1562100"/>
            <a:ext cx="5328666" cy="41148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82600" y="5842000"/>
            <a:ext cx="11226800" cy="431800"/>
          </a:xfrm>
          <a:prstGeom prst="rect">
            <a:avLst/>
          </a:prstGeom>
          <a:solidFill>
            <a:srgbClr val="EA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" y="5918200"/>
            <a:ext cx="10896600" cy="3086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ts val="203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27D8A"/>
                </a:solidFill>
                <a:latin typeface="Noto Sans CJK SC"/>
              </a:defRPr>
            </a:pPr>
            <a:r>
              <a:rPr>
                <a:ea typeface="Noto Sans CJK SC"/>
              </a:rPr>
              <a:t>本页用于问答与机制细节核对；原图汇总跨研究结论，不是单项原创实验结果。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